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EVIDENCE-BASED POLICY  ·  HEALTHY LONGEVITY  ·  LABOUR MARKETS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070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200" b="1" i="0">
                <a:solidFill>
                  <a:srgbClr val="FFFFFF"/>
                </a:solidFill>
                <a:latin typeface="Cambria"/>
              </a:rPr>
              <a:t>From Open Data to Evidence-Based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D6D3D1"/>
                </a:solidFill>
                <a:latin typeface="Calibri"/>
              </a:rPr>
              <a:t>A digital dashboard for monitoring healthy longevity and labour markets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9144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[ Your name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15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D6D3D1"/>
                </a:solidFill>
                <a:latin typeface="Calibri"/>
              </a:rPr>
              <a:t>PhD Researcher · University of National and World Economy (UNWE)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ABOUT ME · PROFESSIONAL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6221F"/>
                </a:solidFill>
                <a:latin typeface="Cambria"/>
              </a:rPr>
              <a:t>From treating disease to extending healthspan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667512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44403C"/>
                </a:solidFill>
                <a:latin typeface="Calibri"/>
              </a:rPr>
              <a:t>Eight years in the private healthcare sector as a Marketing Manager in the medical-device industry — focused on CPAP devices and hearing aids.</a:t>
            </a:r>
          </a:p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44403C"/>
                </a:solidFill>
                <a:latin typeface="Calibri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44403C"/>
                </a:solidFill>
                <a:latin typeface="Calibri"/>
              </a:rPr>
              <a:t>That work brought me close to the practical challenges of chronic and age-related conditions, and showed me how medical technology can preserve functional health and quality of life.</a:t>
            </a:r>
          </a:p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44403C"/>
                </a:solidFill>
                <a:latin typeface="Calibri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44403C"/>
                </a:solidFill>
                <a:latin typeface="Calibri"/>
              </a:rPr>
              <a:t>It gradually drew me toward a broader view of health: beyond treating disease after it develops, toward prevention, maintaining function, and extending healthspan across ageing.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737360"/>
            <a:ext cx="3520440" cy="4160520"/>
          </a:xfrm>
          <a:prstGeom prst="roundRect">
            <a:avLst>
              <a:gd name="adj" fmla="val 6000"/>
            </a:avLst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20116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6534"/>
                </a:solidFill>
                <a:latin typeface="Cambria"/>
              </a:rPr>
              <a:t>The shift</a:t>
            </a:r>
          </a:p>
        </p:txBody>
      </p:sp>
      <p:sp>
        <p:nvSpPr>
          <p:cNvPr id="8" name="Oval 7"/>
          <p:cNvSpPr/>
          <p:nvPr/>
        </p:nvSpPr>
        <p:spPr>
          <a:xfrm>
            <a:off x="8183879" y="2606040"/>
            <a:ext cx="384048" cy="384048"/>
          </a:xfrm>
          <a:prstGeom prst="ellipse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2" y="2606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5603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6221F"/>
                </a:solidFill>
                <a:latin typeface="Calibri"/>
              </a:rPr>
              <a:t>Treat disease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953512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8716C"/>
                </a:solidFill>
                <a:latin typeface="Calibri"/>
              </a:rPr>
              <a:t>after it develops</a:t>
            </a:r>
          </a:p>
        </p:txBody>
      </p:sp>
      <p:sp>
        <p:nvSpPr>
          <p:cNvPr id="12" name="Oval 11"/>
          <p:cNvSpPr/>
          <p:nvPr/>
        </p:nvSpPr>
        <p:spPr>
          <a:xfrm>
            <a:off x="8183879" y="3657600"/>
            <a:ext cx="384048" cy="384048"/>
          </a:xfrm>
          <a:prstGeom prst="ellipse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36576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61188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6221F"/>
                </a:solidFill>
                <a:latin typeface="Calibri"/>
              </a:rPr>
              <a:t>Preserve function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005072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8716C"/>
                </a:solidFill>
                <a:latin typeface="Calibri"/>
              </a:rPr>
              <a:t>medical technology</a:t>
            </a:r>
          </a:p>
        </p:txBody>
      </p:sp>
      <p:sp>
        <p:nvSpPr>
          <p:cNvPr id="16" name="Oval 15"/>
          <p:cNvSpPr/>
          <p:nvPr/>
        </p:nvSpPr>
        <p:spPr>
          <a:xfrm>
            <a:off x="8183879" y="4709160"/>
            <a:ext cx="384048" cy="384048"/>
          </a:xfrm>
          <a:prstGeom prst="ellipse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47091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66344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6221F"/>
                </a:solidFill>
                <a:latin typeface="Calibri"/>
              </a:rPr>
              <a:t>Prevent &amp; extend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5056632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8716C"/>
                </a:solidFill>
                <a:latin typeface="Calibri"/>
              </a:rPr>
              <a:t>healthspan, quality of life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ABOUT ME · RESEARCH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6221F"/>
                </a:solidFill>
                <a:latin typeface="Cambria"/>
              </a:rPr>
              <a:t>Longevity science, from many angles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44403C"/>
                </a:solidFill>
                <a:latin typeface="Calibri"/>
              </a:rPr>
              <a:t>As a PhD researcher at UNWE, I study the development of longevity science and the evolution of theories of ageing — and how scientific advances in ageing can be translated into real-world 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91840"/>
            <a:ext cx="2606040" cy="2286000"/>
          </a:xfrm>
          <a:prstGeom prst="roundRect">
            <a:avLst>
              <a:gd name="adj" fmla="val 7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66534"/>
                </a:solidFill>
                <a:latin typeface="Cambria"/>
              </a:rPr>
              <a:t>Scientific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2103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44403C"/>
                </a:solidFill>
                <a:latin typeface="Calibri"/>
              </a:rPr>
              <a:t>theories of ageing, longevity science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3291840"/>
            <a:ext cx="2606040" cy="2286000"/>
          </a:xfrm>
          <a:prstGeom prst="roundRect">
            <a:avLst>
              <a:gd name="adj" fmla="val 7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356616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66534"/>
                </a:solidFill>
                <a:latin typeface="Cambria"/>
              </a:rPr>
              <a:t>Economic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297680"/>
            <a:ext cx="2103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44403C"/>
                </a:solidFill>
                <a:latin typeface="Calibri"/>
              </a:rPr>
              <a:t>sustainable business models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291840"/>
            <a:ext cx="2606040" cy="2286000"/>
          </a:xfrm>
          <a:prstGeom prst="roundRect">
            <a:avLst>
              <a:gd name="adj" fmla="val 7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56616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66534"/>
                </a:solidFill>
                <a:latin typeface="Cambria"/>
              </a:rPr>
              <a:t>Technological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97680"/>
            <a:ext cx="2103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44403C"/>
                </a:solidFill>
                <a:latin typeface="Calibri"/>
              </a:rPr>
              <a:t>emerging longevity technologies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3291840"/>
            <a:ext cx="2606040" cy="2286000"/>
          </a:xfrm>
          <a:prstGeom prst="roundRect">
            <a:avLst>
              <a:gd name="adj" fmla="val 7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356616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66534"/>
                </a:solidFill>
                <a:latin typeface="Cambria"/>
              </a:rPr>
              <a:t>Societal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4297680"/>
            <a:ext cx="2103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44403C"/>
                </a:solidFill>
                <a:latin typeface="Calibri"/>
              </a:rPr>
              <a:t>public policy &amp; broader benefits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064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1">
                <a:solidFill>
                  <a:srgbClr val="78716C"/>
                </a:solidFill>
                <a:latin typeface="Calibri"/>
              </a:rPr>
              <a:t>My aim: an interdisciplinary understanding of healthy longevity — bridging private-sector healthcare experience and academic research.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Ageing is not only a health question —</a:t>
            </a:r>
          </a:p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it is an economic and labour-market question.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D6D3D1"/>
                </a:solidFill>
                <a:latin typeface="Calibri"/>
              </a:rPr>
              <a:t>As populations grow older and, across much of Europe’s East, smaller, the pressing questions become: who stays healthy enough to work, for how long, and can each economy still supply the labour its jobs need?</a:t>
            </a:r>
          </a:p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D6D3D1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D6D3D1"/>
                </a:solidFill>
                <a:latin typeface="Calibri"/>
              </a:rPr>
              <a:t>Answering them requires evidence — open, comparable, transparent — that links healthy longevity to the labour market and turns it into something policy can act 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THE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6221F"/>
                </a:solidFill>
                <a:latin typeface="Cambria"/>
              </a:rPr>
              <a:t>Open data → a dashboard → evidence-based policy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2606040" cy="3108960"/>
          </a:xfrm>
          <a:prstGeom prst="roundRect">
            <a:avLst>
              <a:gd name="adj" fmla="val 7000"/>
            </a:avLst>
          </a:prstGeom>
          <a:solidFill>
            <a:srgbClr val="F0F5F1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560320"/>
            <a:ext cx="502920" cy="502920"/>
          </a:xfrm>
          <a:prstGeom prst="ellipse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2103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66534"/>
                </a:solidFill>
                <a:latin typeface="Cambria"/>
              </a:rPr>
              <a:t>Open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977639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44403C"/>
                </a:solidFill>
                <a:latin typeface="Calibri"/>
              </a:rPr>
              <a:t>Public Eurostat series: population, life &amp; healthy-life expectancy, working life, employment, vacancies.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1" y="356616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78716C"/>
                </a:solidFill>
                <a:latin typeface="Cambria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286000"/>
            <a:ext cx="2606040" cy="3108960"/>
          </a:xfrm>
          <a:prstGeom prst="roundRect">
            <a:avLst>
              <a:gd name="adj" fmla="val 7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840480" y="2560320"/>
            <a:ext cx="502920" cy="502920"/>
          </a:xfrm>
          <a:prstGeom prst="ellipse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25603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246120"/>
            <a:ext cx="2103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66534"/>
                </a:solidFill>
                <a:latin typeface="Cambria"/>
              </a:rPr>
              <a:t>Transparent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977639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44403C"/>
                </a:solidFill>
                <a:latin typeface="Calibri"/>
              </a:rPr>
              <a:t>Simple, explainable models (no black boxes) convert averages into human-working-years.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356616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78716C"/>
                </a:solidFill>
                <a:latin typeface="Cambria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86000"/>
            <a:ext cx="2606040" cy="3108960"/>
          </a:xfrm>
          <a:prstGeom prst="roundRect">
            <a:avLst>
              <a:gd name="adj" fmla="val 7000"/>
            </a:avLst>
          </a:prstGeom>
          <a:solidFill>
            <a:srgbClr val="F0F5F1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80" y="2560320"/>
            <a:ext cx="502920" cy="502920"/>
          </a:xfrm>
          <a:prstGeom prst="ellipse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5603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246120"/>
            <a:ext cx="2103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66534"/>
                </a:solidFill>
                <a:latin typeface="Cambria"/>
              </a:rPr>
              <a:t>Digital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977639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44403C"/>
                </a:solidFill>
                <a:latin typeface="Calibri"/>
              </a:rPr>
              <a:t>One comparable currency, 8 countries, by sex, to 2033 — supply, demand, balance, health.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1392" y="356616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78716C"/>
                </a:solidFill>
                <a:latin typeface="Cambria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2286000"/>
            <a:ext cx="2606040" cy="3108960"/>
          </a:xfrm>
          <a:prstGeom prst="roundRect">
            <a:avLst>
              <a:gd name="adj" fmla="val 7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0" y="2560320"/>
            <a:ext cx="502920" cy="502920"/>
          </a:xfrm>
          <a:prstGeom prst="ellipse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25603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246120"/>
            <a:ext cx="2103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66534"/>
                </a:solidFill>
                <a:latin typeface="Cambria"/>
              </a:rPr>
              <a:t>Evidence for policy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977639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44403C"/>
                </a:solidFill>
                <a:latin typeface="Calibri"/>
              </a:rPr>
              <a:t>Quantified levers and scenarios that decision-makers can interrogate and trust.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THE TOOL  ·  LIVE OPEN-DATA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6221F"/>
                </a:solidFill>
                <a:latin typeface="Cambria"/>
              </a:rPr>
              <a:t>The dashboard: healthy longevity, in labour-market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6583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50" b="0" i="0">
                <a:solidFill>
                  <a:srgbClr val="44403C"/>
                </a:solidFill>
                <a:latin typeface="Calibri"/>
              </a:rPr>
              <a:t>It converts demographic averages into human-working-years — a stock directly comparable with jobs — and monitors the balance to 2033.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67665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4403C"/>
                </a:solidFill>
                <a:latin typeface="Calibri"/>
              </a:rPr>
              <a:t>• Supply = healthy working-age people × expected working life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4403C"/>
                </a:solidFill>
                <a:latin typeface="Calibri"/>
              </a:rPr>
              <a:t>• Demand = jobs (employed + vacancies) × required service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4403C"/>
                </a:solidFill>
                <a:latin typeface="Calibri"/>
              </a:rPr>
              <a:t>• Balance = Supply − Demand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4403C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4403C"/>
                </a:solidFill>
                <a:latin typeface="Calibri"/>
              </a:rPr>
              <a:t>Extended layers monitor the poor-health burden, the healthy-retirement dividend, and the macro-economy — all from the same open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91640"/>
            <a:ext cx="3611880" cy="4206240"/>
          </a:xfrm>
          <a:prstGeom prst="roundRect">
            <a:avLst>
              <a:gd name="adj" fmla="val 6000"/>
            </a:avLst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9659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6534"/>
                </a:solidFill>
                <a:latin typeface="Cambria"/>
              </a:rPr>
              <a:t>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5146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mbria"/>
              </a:rPr>
              <a:t>8 ×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9260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8716C"/>
                </a:solidFill>
                <a:latin typeface="Calibri"/>
              </a:rPr>
              <a:t>countries × sex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35584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mbria"/>
              </a:rPr>
              <a:t>2011–2024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76732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8716C"/>
                </a:solidFill>
                <a:latin typeface="Calibri"/>
              </a:rPr>
              <a:t>observed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419709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mbria"/>
              </a:rPr>
              <a:t>→ 2033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60857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8716C"/>
                </a:solidFill>
                <a:latin typeface="Calibri"/>
              </a:rPr>
              <a:t>forecast horizon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503834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mbria"/>
              </a:rPr>
              <a:t>Open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544982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8716C"/>
                </a:solidFill>
                <a:latin typeface="Calibri"/>
              </a:rPr>
              <a:t>Eurostat sources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WHERE THIS DASHBOARD SITS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6221F"/>
                </a:solidFill>
                <a:latin typeface="Cambria"/>
              </a:rPr>
              <a:t>Most existing dashboards track age — not healthspan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6534"/>
                </a:solidFill>
                <a:latin typeface="Cambria"/>
              </a:rPr>
              <a:t>The landscape of ageing &amp; labour dashboards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313432"/>
            <a:ext cx="182880" cy="182880"/>
          </a:xfrm>
          <a:prstGeom prst="ellipse">
            <a:avLst/>
          </a:prstGeom>
          <a:solidFill>
            <a:srgbClr val="47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240280"/>
            <a:ext cx="4754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44403C"/>
                </a:solidFill>
                <a:latin typeface="Calibri"/>
              </a:rPr>
              <a:t>OECD — Dashboard on Older Workers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026664"/>
            <a:ext cx="182880" cy="182880"/>
          </a:xfrm>
          <a:prstGeom prst="ellipse">
            <a:avLst/>
          </a:prstGeom>
          <a:solidFill>
            <a:srgbClr val="47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2953512"/>
            <a:ext cx="4754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44403C"/>
                </a:solidFill>
                <a:latin typeface="Calibri"/>
              </a:rPr>
              <a:t>Eurostat — Ageing Europe / population structure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739896"/>
            <a:ext cx="182880" cy="182880"/>
          </a:xfrm>
          <a:prstGeom prst="ellipse">
            <a:avLst/>
          </a:prstGeom>
          <a:solidFill>
            <a:srgbClr val="47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3666744"/>
            <a:ext cx="4754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44403C"/>
                </a:solidFill>
                <a:latin typeface="Calibri"/>
              </a:rPr>
              <a:t>ILOSTAT — Data Explorer (ILO)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453128"/>
            <a:ext cx="182880" cy="182880"/>
          </a:xfrm>
          <a:prstGeom prst="ellipse">
            <a:avLst/>
          </a:prstGeom>
          <a:solidFill>
            <a:srgbClr val="47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4379976"/>
            <a:ext cx="4754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44403C"/>
                </a:solidFill>
                <a:latin typeface="Calibri"/>
              </a:rPr>
              <a:t>UNECE — Active Ageing Index (AAI)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5166360"/>
            <a:ext cx="182880" cy="182880"/>
          </a:xfrm>
          <a:prstGeom prst="ellipse">
            <a:avLst/>
          </a:prstGeom>
          <a:solidFill>
            <a:srgbClr val="47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8" y="5093208"/>
            <a:ext cx="4754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44403C"/>
                </a:solidFill>
                <a:latin typeface="Calibri"/>
              </a:rPr>
              <a:t>National — UK (L&amp;W Inst.), Canada (LMIC / CIHI), US (BLS / AARP)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645920"/>
            <a:ext cx="5074920" cy="4160520"/>
          </a:xfrm>
          <a:prstGeom prst="roundRect">
            <a:avLst>
              <a:gd name="adj" fmla="val 6000"/>
            </a:avLst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938528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6534"/>
                </a:solidFill>
                <a:latin typeface="Cambria"/>
              </a:rPr>
              <a:t>What they mostly track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560320"/>
            <a:ext cx="4526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44403C"/>
                </a:solidFill>
                <a:latin typeface="Calibri"/>
              </a:rPr>
              <a:t>Employment at 55–64 &amp; 65+ · labour-force participation by age · effective vs statutory retirement · old-age dependency ratios · pension fiscal sustainability.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25196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7706"/>
                </a:solidFill>
                <a:latin typeface="Cambria"/>
              </a:rPr>
              <a:t>The gap they leave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800600"/>
            <a:ext cx="4526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44403C"/>
                </a:solidFill>
                <a:latin typeface="Calibri"/>
              </a:rPr>
              <a:t>They monitor chronological age and headcount — not functional capacity, healthspan, or the longevity dividend.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A PARADIGM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From chronological age to functional 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93852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D6D3D1"/>
                </a:solidFill>
                <a:latin typeface="Calibri"/>
              </a:rPr>
              <a:t>Traditional · Ageing &amp; Labour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1938528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D97706"/>
                </a:solidFill>
                <a:latin typeface="Calibri"/>
              </a:rPr>
              <a:t>Healthy Longevity &amp; Labour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87168"/>
            <a:ext cx="29260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Core 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487168"/>
            <a:ext cx="39319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D6D3D1"/>
                </a:solidFill>
                <a:latin typeface="Calibri"/>
              </a:rPr>
              <a:t>Chronological age (50+, 65+)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487168"/>
            <a:ext cx="35204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Functional capacity — healthspan vs lifespan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29260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154680"/>
            <a:ext cx="39319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D6D3D1"/>
                </a:solidFill>
                <a:latin typeface="Calibri"/>
              </a:rPr>
              <a:t>Falling supply, pension pressure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154680"/>
            <a:ext cx="35204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Mismatch: capacity vs workplace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22191"/>
            <a:ext cx="29260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Exit metric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822191"/>
            <a:ext cx="39319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D6D3D1"/>
                </a:solidFill>
                <a:latin typeface="Calibri"/>
              </a:rPr>
              <a:t>Statutory vs effective retirement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822191"/>
            <a:ext cx="35204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Healthy / disability-free years vs actual exit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89704"/>
            <a:ext cx="29260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Workforce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489704"/>
            <a:ext cx="39319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D6D3D1"/>
                </a:solidFill>
                <a:latin typeface="Calibri"/>
              </a:rPr>
              <a:t>Static end-of-career cohort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489704"/>
            <a:ext cx="35204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Dynamic life-course — reskill &amp; adapt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57216"/>
            <a:ext cx="29260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Interventions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157216"/>
            <a:ext cx="39319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D6D3D1"/>
                </a:solidFill>
                <a:latin typeface="Calibri"/>
              </a:rPr>
              <a:t>Raise retirement age, pension reform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5157216"/>
            <a:ext cx="35204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Prevention, ergonomics, phased retirement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9436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D97706"/>
                </a:solidFill>
                <a:latin typeface="Calibri"/>
              </a:rPr>
              <a:t>Our dashboard already takes the healthspan lens — it measures Healthy Life Years, not just headcount.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EVIDENCE FROM THE DASHBOARD  · 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6221F"/>
                </a:solidFill>
                <a:latin typeface="Cambria"/>
              </a:rPr>
              <a:t>Healthy longevity is already holding the 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200400" cy="2103120"/>
          </a:xfrm>
          <a:prstGeom prst="roundRect">
            <a:avLst>
              <a:gd name="adj" fmla="val 7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84832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166534"/>
                </a:solidFill>
                <a:latin typeface="Cambria"/>
              </a:rPr>
              <a:t>≈ flat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28079"/>
            <a:ext cx="2651760" cy="1097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78716C"/>
                </a:solidFill>
                <a:latin typeface="Calibri"/>
              </a:rPr>
              <a:t>Labour supply 2024→2033 despite shrinking working-age populations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920240"/>
            <a:ext cx="69494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44403C"/>
                </a:solidFill>
                <a:latin typeface="Calibri"/>
              </a:rPr>
              <a:t>Working-age populations are shrinking — yet labour supply stays near-flat, because people are healthier, work longer, and participate more. This is the longevity dividend, measured directly in healthy life years (HLY ÷ LE).</a:t>
            </a:r>
          </a:p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44403C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44403C"/>
                </a:solidFill>
                <a:latin typeface="Calibri"/>
              </a:rPr>
              <a:t>Healthy longevity is not just a medical outcome — it is a quantifiable economic resource.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064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1">
                <a:solidFill>
                  <a:srgbClr val="78716C"/>
                </a:solidFill>
                <a:latin typeface="Calibri"/>
              </a:rPr>
              <a:t>Healthy Life Years (HLY) enter labour supply as a multiplier — extend healthspan, and the workforce expands.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EVIDENCE FROM THE DASHBOARD  · 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6221F"/>
                </a:solidFill>
                <a:latin typeface="Cambria"/>
              </a:rPr>
              <a:t>A balanced total that hides a structural divide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291840" cy="2011680"/>
          </a:xfrm>
          <a:prstGeom prst="roundRect">
            <a:avLst>
              <a:gd name="adj" fmla="val 7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84832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166534"/>
                </a:solidFill>
                <a:latin typeface="Cambria"/>
              </a:rPr>
              <a:t>+89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86515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78716C"/>
                </a:solidFill>
                <a:latin typeface="Calibri"/>
              </a:rPr>
              <a:t>Net labour balance 2033 (human-working-years) — roughly balanced in aggregate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383280" cy="2011680"/>
          </a:xfrm>
          <a:prstGeom prst="roundRect">
            <a:avLst>
              <a:gd name="adj" fmla="val 7000"/>
            </a:avLst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031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6534"/>
                </a:solidFill>
                <a:latin typeface="Calibri"/>
              </a:rPr>
              <a:t>EAST — surplus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60604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66534"/>
                </a:solidFill>
                <a:latin typeface="Cambria"/>
              </a:rPr>
              <a:t>+369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38328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8716C"/>
                </a:solidFill>
                <a:latin typeface="Calibri"/>
              </a:rPr>
              <a:t>PL · RO · CZ · BG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828800"/>
            <a:ext cx="3429000" cy="2011680"/>
          </a:xfrm>
          <a:prstGeom prst="roundRect">
            <a:avLst>
              <a:gd name="adj" fmla="val 7000"/>
            </a:avLst>
          </a:prstGeom>
          <a:solidFill>
            <a:srgbClr val="FB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91C1C"/>
                </a:solidFill>
                <a:latin typeface="Calibri"/>
              </a:rPr>
              <a:t>WEST / EFTA — shortage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60604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B91C1C"/>
                </a:solidFill>
                <a:latin typeface="Cambria"/>
              </a:rPr>
              <a:t>−280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3832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8716C"/>
                </a:solidFill>
                <a:latin typeface="Calibri"/>
              </a:rPr>
              <a:t>DE · FR · CH · 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0624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44403C"/>
                </a:solidFill>
                <a:latin typeface="Calibri"/>
              </a:rPr>
              <a:t>Two opposite imbalances that cancel on paper — the demographic basis of West-bound migration. The dashboard makes this visible per country, by sex, to 2033, with honest uncertainty bands (validated by a leakage-safe backtest: supply error ≈ 3.6%).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EVIDENCE FROM THE DASHBOARD  · 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6221F"/>
                </a:solidFill>
                <a:latin typeface="Cambria"/>
              </a:rPr>
              <a:t>From health burden to the macro-economy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3520440" cy="3383280"/>
          </a:xfrm>
          <a:prstGeom prst="roundRect">
            <a:avLst>
              <a:gd name="adj" fmla="val 7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700" b="1" i="0">
                <a:solidFill>
                  <a:srgbClr val="166534"/>
                </a:solidFill>
                <a:latin typeface="Cambria"/>
              </a:rPr>
              <a:t>Poor-health burden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54680"/>
            <a:ext cx="30175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44403C"/>
                </a:solidFill>
                <a:latin typeface="Calibri"/>
              </a:rPr>
              <a:t>Person-years lived in poor health (LE − HLY) — the pressure on health &amp; long-term care.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7992" y="1920240"/>
            <a:ext cx="3520440" cy="3383280"/>
          </a:xfrm>
          <a:prstGeom prst="roundRect">
            <a:avLst>
              <a:gd name="adj" fmla="val 7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82312" y="219456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700" b="1" i="0">
                <a:solidFill>
                  <a:srgbClr val="D97706"/>
                </a:solidFill>
                <a:latin typeface="Cambria"/>
              </a:rPr>
              <a:t>Healthy-retirement dividend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2312" y="3154680"/>
            <a:ext cx="30175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44403C"/>
                </a:solidFill>
                <a:latin typeface="Calibri"/>
              </a:rPr>
              <a:t>Healthy years beyond the retirement age — the base of the active-retiree ‘silver economy’.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93024" y="1920240"/>
            <a:ext cx="3520440" cy="3383280"/>
          </a:xfrm>
          <a:prstGeom prst="roundRect">
            <a:avLst>
              <a:gd name="adj" fmla="val 7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7344" y="219456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700" b="1" i="0">
                <a:solidFill>
                  <a:srgbClr val="475369"/>
                </a:solidFill>
                <a:latin typeface="Cambria"/>
              </a:rPr>
              <a:t>The macro-economy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3154680"/>
            <a:ext cx="30175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44403C"/>
                </a:solidFill>
                <a:latin typeface="Calibri"/>
              </a:rPr>
              <a:t>GDP = employment × productivity; healthy longevity acts through the labour channel.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5778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1">
                <a:solidFill>
                  <a:srgbClr val="78716C"/>
                </a:solidFill>
                <a:latin typeface="Calibri"/>
              </a:rPr>
              <a:t>Within a country the causal links are honestly reported as ≈ 0 — spending tracks income, not demography. We describe patterns, never over-claim causation.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ROADMAP · BEYOND STANDARD LABOUR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6221F"/>
                </a:solidFill>
                <a:latin typeface="Cambria"/>
              </a:rPr>
              <a:t>The frontier: a healthy-longevity data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212080" cy="1691640"/>
          </a:xfrm>
          <a:prstGeom prst="roundRect">
            <a:avLst>
              <a:gd name="adj" fmla="val 7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48256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66534"/>
                </a:solidFill>
                <a:latin typeface="Cambria"/>
              </a:rPr>
              <a:t>The workability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78608"/>
            <a:ext cx="4709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4403C"/>
                </a:solidFill>
                <a:latin typeface="Calibri"/>
              </a:rPr>
              <a:t>HLY at 50 / 65 · disability-free life expectancy vs effective retirement · Work Ability Index (WAI)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5212080" cy="1691640"/>
          </a:xfrm>
          <a:prstGeom prst="roundRect">
            <a:avLst>
              <a:gd name="adj" fmla="val 7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048256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66534"/>
                </a:solidFill>
                <a:latin typeface="Cambria"/>
              </a:rPr>
              <a:t>Workplace adaptation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578608"/>
            <a:ext cx="4709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4403C"/>
                </a:solidFill>
                <a:latin typeface="Calibri"/>
              </a:rPr>
              <a:t>ergonomics &amp; job redesign · phased / flexible pathways · mid-to-late-career well-being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03320"/>
            <a:ext cx="5212080" cy="1691640"/>
          </a:xfrm>
          <a:prstGeom prst="roundRect">
            <a:avLst>
              <a:gd name="adj" fmla="val 7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22776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66534"/>
                </a:solidFill>
                <a:latin typeface="Cambria"/>
              </a:rPr>
              <a:t>Lifelong human capital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53128"/>
            <a:ext cx="4709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4403C"/>
                </a:solidFill>
                <a:latin typeface="Calibri"/>
              </a:rPr>
              <a:t>mid-career reskilling &amp; digital fluency (45–60+) · age-diverse, inclusive workplaces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212080" cy="1691640"/>
          </a:xfrm>
          <a:prstGeom prst="roundRect">
            <a:avLst>
              <a:gd name="adj" fmla="val 7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922776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66534"/>
                </a:solidFill>
                <a:latin typeface="Cambria"/>
              </a:rPr>
              <a:t>Unpaid contribution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453128"/>
            <a:ext cx="4709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4403C"/>
                </a:solidFill>
                <a:latin typeface="Calibri"/>
              </a:rPr>
              <a:t>caregiving penalties on paid work · post-retirement civic &amp; mentorship 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669280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1">
                <a:solidFill>
                  <a:srgbClr val="78716C"/>
                </a:solidFill>
                <a:latin typeface="Calibri"/>
              </a:rPr>
              <a:t>Data shift: from labour-force surveys &amp; pension registries to longitudinal ageing studies (SHARE, ELSA, HRS), the WHO Global Health Observatory, and occupational-health diagnostics.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MY DISSERTATION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The mutual effect of longevity and business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40"/>
            <a:ext cx="5120640" cy="3017520"/>
          </a:xfrm>
          <a:prstGeom prst="roundRect">
            <a:avLst>
              <a:gd name="adj" fmla="val 6000"/>
            </a:avLst>
          </a:prstGeom>
          <a:solidFill>
            <a:srgbClr val="332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10896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D97706"/>
                </a:solidFill>
                <a:latin typeface="Cambria"/>
              </a:rPr>
              <a:t>Longevity  → 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94760"/>
            <a:ext cx="45720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0" i="0">
                <a:solidFill>
                  <a:srgbClr val="D6D3D1"/>
                </a:solidFill>
                <a:latin typeface="Calibri"/>
              </a:rPr>
              <a:t>Longer, healthier lives create markets and reshape the workforce: the silver economy, longevity technologies, prevention-oriented healthcare, older and healthier workers.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834640"/>
            <a:ext cx="5120640" cy="3017520"/>
          </a:xfrm>
          <a:prstGeom prst="roundRect">
            <a:avLst>
              <a:gd name="adj" fmla="val 6000"/>
            </a:avLst>
          </a:prstGeom>
          <a:solidFill>
            <a:srgbClr val="332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10896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D97706"/>
                </a:solidFill>
                <a:latin typeface="Cambria"/>
              </a:rPr>
              <a:t>Business  →  longevity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794760"/>
            <a:ext cx="45720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0" i="0">
                <a:solidFill>
                  <a:srgbClr val="D6D3D1"/>
                </a:solidFill>
                <a:latin typeface="Calibri"/>
              </a:rPr>
              <a:t>Healthcare innovation and medical technology — such as CPAP and hearing aids — preserve function and extend healthspan, feeding back into how long and how well people can 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THE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6221F"/>
                </a:solidFill>
                <a:latin typeface="Cambria"/>
              </a:rPr>
              <a:t>The labour market is where longevity and business meet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44403C"/>
                </a:solidFill>
                <a:latin typeface="Calibri"/>
              </a:rPr>
              <a:t>The dashboard makes the mutual effect measurable — in one currency, human-working-years.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3520440" cy="2834640"/>
          </a:xfrm>
          <a:prstGeom prst="roundRect">
            <a:avLst>
              <a:gd name="adj" fmla="val 7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66534"/>
                </a:solidFill>
                <a:latin typeface="Cambria"/>
              </a:rPr>
              <a:t>Longevity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2044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6221F"/>
                </a:solidFill>
                <a:latin typeface="Calibri"/>
              </a:rPr>
              <a:t>shapes SUPPLY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69080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4403C"/>
                </a:solidFill>
                <a:latin typeface="Calibri"/>
              </a:rPr>
              <a:t>healthy people × working life — who can work, and for how long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1" y="3749039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78716C"/>
                </a:solidFill>
                <a:latin typeface="Cambria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2743200"/>
            <a:ext cx="3520440" cy="2834640"/>
          </a:xfrm>
          <a:prstGeom prst="roundRect">
            <a:avLst>
              <a:gd name="adj" fmla="val 7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2312" y="30175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mbria"/>
              </a:rPr>
              <a:t>Business &amp; economy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352044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6221F"/>
                </a:solidFill>
                <a:latin typeface="Calibri"/>
              </a:rPr>
              <a:t>shapes DEMAND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4069080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4403C"/>
                </a:solidFill>
                <a:latin typeface="Calibri"/>
              </a:rPr>
              <a:t>jobs × required service — the labour the economy runs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3749039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78716C"/>
                </a:solidFill>
                <a:latin typeface="Cambria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2743200"/>
            <a:ext cx="3520440" cy="2834640"/>
          </a:xfrm>
          <a:prstGeom prst="roundRect">
            <a:avLst>
              <a:gd name="adj" fmla="val 7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7344" y="30175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475369"/>
                </a:solidFill>
                <a:latin typeface="Cambria"/>
              </a:rPr>
              <a:t>Their balance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352044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6221F"/>
                </a:solidFill>
                <a:latin typeface="Calibri"/>
              </a:rPr>
              <a:t>IS the labour market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4069080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4403C"/>
                </a:solidFill>
                <a:latin typeface="Calibri"/>
              </a:rPr>
              <a:t>supply − demand — surplus, shortage, and the pressure to migrate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6072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1">
                <a:solidFill>
                  <a:srgbClr val="78716C"/>
                </a:solidFill>
                <a:latin typeface="Calibri"/>
              </a:rPr>
              <a:t>So the mutual effect of longevity and business is not abstract — it is the labour-market balance, monitored to 2033.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FROM DATA TO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6221F"/>
                </a:solidFill>
                <a:latin typeface="Cambria"/>
              </a:rPr>
              <a:t>From evidence to policy: three levers, one master switch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520440" cy="1737360"/>
          </a:xfrm>
          <a:prstGeom prst="roundRect">
            <a:avLst>
              <a:gd name="adj" fmla="val 7000"/>
            </a:avLst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66534"/>
                </a:solidFill>
                <a:latin typeface="Cambria"/>
              </a:rPr>
              <a:t>Increase supply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44403C"/>
                </a:solidFill>
                <a:latin typeface="Calibri"/>
              </a:rPr>
              <a:t>participation, retention of healthy older workers, migration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7992" y="1828800"/>
            <a:ext cx="3520440" cy="1737360"/>
          </a:xfrm>
          <a:prstGeom prst="roundRect">
            <a:avLst>
              <a:gd name="adj" fmla="val 7000"/>
            </a:avLst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82312" y="205740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66534"/>
                </a:solidFill>
                <a:latin typeface="Cambria"/>
              </a:rPr>
              <a:t>Ease 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2312" y="260604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44403C"/>
                </a:solidFill>
                <a:latin typeface="Calibri"/>
              </a:rPr>
              <a:t>automation and productivity — fewer human-hours per job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93024" y="1828800"/>
            <a:ext cx="3520440" cy="1737360"/>
          </a:xfrm>
          <a:prstGeom prst="roundRect">
            <a:avLst>
              <a:gd name="adj" fmla="val 7000"/>
            </a:avLst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7344" y="205740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66534"/>
                </a:solidFill>
                <a:latin typeface="Cambria"/>
              </a:rPr>
              <a:t>Maintain 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260604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44403C"/>
                </a:solidFill>
                <a:latin typeface="Calibri"/>
              </a:rPr>
              <a:t>education, training, retirement-age &amp; service policy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40480"/>
            <a:ext cx="10561320" cy="1920240"/>
          </a:xfrm>
          <a:prstGeom prst="roundRect">
            <a:avLst>
              <a:gd name="adj" fmla="val 7000"/>
            </a:avLst>
          </a:prstGeom>
          <a:solidFill>
            <a:srgbClr val="FBFBFA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  <a:latin typeface="Cambria"/>
              </a:rPr>
              <a:t>The master switch — healthspan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754880"/>
            <a:ext cx="9966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44403C"/>
                </a:solidFill>
                <a:latin typeface="Calibri"/>
              </a:rPr>
              <a:t>Raising Healthy Life Years does what no single lever can: it expands the workforce, shrinks the care burden, and unlocks the active-retirement economy at once. Prevention is labour-market policy.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Healthy longevity is measurable, comparable, and actionable.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6070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D6D3D1"/>
                </a:solidFill>
                <a:latin typeface="Calibri"/>
              </a:rPr>
              <a:t>Open data and a transparent dashboard turn ageing from an abstract concern into evidence policy can use — and reveal that the mutual effect of longevity and business runs straight through the labour market.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D6D3D1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D6D3D1"/>
                </a:solidFill>
                <a:latin typeface="Calibri"/>
              </a:rPr>
              <a:t>My aim: to help move healthcare from treating disease toward a preventive, healthspan-oriented model — bridging private-sector experience and academic research, science and policy.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1371600"/>
            <a:ext cx="914400" cy="914400"/>
          </a:xfrm>
          <a:prstGeom prst="roundRect">
            <a:avLst>
              <a:gd name="adj" fmla="val 26000"/>
            </a:avLst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35024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mbria"/>
              </a:rPr>
              <a:t>P</a:t>
            </a:r>
          </a:p>
        </p:txBody>
      </p:sp>
      <p:sp>
        <p:nvSpPr>
          <p:cNvPr id="5" name="Oval 4"/>
          <p:cNvSpPr/>
          <p:nvPr/>
        </p:nvSpPr>
        <p:spPr>
          <a:xfrm>
            <a:off x="1572768" y="1453896"/>
            <a:ext cx="146304" cy="146304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D97706"/>
                </a:solidFill>
                <a:latin typeface="Calibri"/>
              </a:rPr>
              <a:t>Questions &amp; discussion welcome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D6D3D1"/>
                </a:solidFill>
                <a:latin typeface="Calibri"/>
              </a:rPr>
              <a:t>[ Your name ] · PhD Researcher, UNWE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D6D3D1"/>
                </a:solidFill>
                <a:latin typeface="Calibri"/>
              </a:rPr>
              <a:t>Dashboard: rossikeh-ops.github.io/longevity-labour-market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