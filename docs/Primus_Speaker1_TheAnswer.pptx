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777240"/>
            <a:ext cx="822960" cy="822960"/>
          </a:xfrm>
          <a:prstGeom prst="roundRect">
            <a:avLst>
              <a:gd name="adj" fmla="val 26000"/>
            </a:avLst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40664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mbria"/>
              </a:rPr>
              <a:t>P</a:t>
            </a:r>
          </a:p>
        </p:txBody>
      </p:sp>
      <p:sp>
        <p:nvSpPr>
          <p:cNvPr id="5" name="Oval 4"/>
          <p:cNvSpPr/>
          <p:nvPr/>
        </p:nvSpPr>
        <p:spPr>
          <a:xfrm>
            <a:off x="1508760" y="832103"/>
            <a:ext cx="146304" cy="146304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841248"/>
            <a:ext cx="5486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PRIMUS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325880"/>
            <a:ext cx="7315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D6D3D1"/>
                </a:solidFill>
                <a:latin typeface="Calibri"/>
              </a:rPr>
              <a:t>PERSON-YEAR FORECASTS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mbria"/>
              </a:rPr>
              <a:t>The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D97706"/>
                </a:solidFill>
                <a:latin typeface="Calibri"/>
              </a:rPr>
              <a:t>Speaker 1 – what the numbers say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6D3D1"/>
                </a:solidFill>
                <a:latin typeface="Calibri"/>
              </a:rPr>
              <a:t>Stops 1–6  ·  ~10 minutes  ·  Longevity &amp; the Labour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D6D3D1"/>
                </a:solidFill>
                <a:latin typeface="Calibri"/>
              </a:rPr>
              <a:t>Part 1 of 2 – the question, the findings, and what they mean.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6692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10149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292524"/>
                </a:solidFill>
                <a:latin typeface="Cambria"/>
              </a:rPr>
              <a:t>The question – and the headline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10241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0" i="0">
                <a:solidFill>
                  <a:srgbClr val="44403C"/>
                </a:solidFill>
                <a:latin typeface="Calibri"/>
              </a:rPr>
              <a:t>Can each economy still supply the labour its jobs need by 2033? We answer in one currency: human-working-years – for 8 countries, by sex.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60604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862072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66534"/>
                </a:solidFill>
                <a:latin typeface="Cambria"/>
              </a:rPr>
              <a:t>+89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670964"/>
            <a:ext cx="265176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78716C"/>
                </a:solidFill>
                <a:latin typeface="Calibri"/>
              </a:rPr>
              <a:t>Net balance 2033 – roughly balanced in aggregate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260604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862072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166534"/>
                </a:solidFill>
                <a:latin typeface="Cambria"/>
              </a:rPr>
              <a:t>+370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670964"/>
            <a:ext cx="265176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78716C"/>
                </a:solidFill>
                <a:latin typeface="Calibri"/>
              </a:rPr>
              <a:t>East surplus (PL, RO, CZ, BG)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60604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862072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B91C1C"/>
                </a:solidFill>
                <a:latin typeface="Cambria"/>
              </a:rPr>
              <a:t>−280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670964"/>
            <a:ext cx="265176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78716C"/>
                </a:solidFill>
                <a:latin typeface="Calibri"/>
              </a:rPr>
              <a:t>West / EFTA shortage (DE, FR, CH, NO)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80060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292524"/>
                </a:solidFill>
                <a:latin typeface="Calibri"/>
              </a:rPr>
              <a:t>Supply = healthy working-age people  ×  working life.</a:t>
            </a:r>
          </a:p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292524"/>
                </a:solidFill>
                <a:latin typeface="Calibri"/>
              </a:rPr>
              <a:t>Demand = jobs (employed + vacancies)  ×  required service.</a:t>
            </a:r>
          </a:p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292524"/>
                </a:solidFill>
                <a:latin typeface="Calibri"/>
              </a:rPr>
              <a:t>Balance = Supply − Demand.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6692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10149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292524"/>
                </a:solidFill>
                <a:latin typeface="Cambria"/>
              </a:rPr>
              <a:t>Supply – the longevity dividend holds the 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55448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1810512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166534"/>
                </a:solidFill>
                <a:latin typeface="Cambria"/>
              </a:rPr>
              <a:t>−2.5%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689742"/>
            <a:ext cx="2834640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78716C"/>
                </a:solidFill>
                <a:latin typeface="Calibri"/>
              </a:rPr>
              <a:t>Labour supply, 2024→2033 (~4,490 → ~4,390 M) – even as working-age populations shrink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600200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44403C"/>
                </a:solidFill>
                <a:latin typeface="Calibri"/>
              </a:rPr>
              <a:t>Three forces push back against the falling headcount: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240280"/>
            <a:ext cx="6400800" cy="566928"/>
          </a:xfrm>
          <a:prstGeom prst="roundRect">
            <a:avLst>
              <a:gd name="adj" fmla="val 30000"/>
            </a:avLst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30368" y="2414016"/>
            <a:ext cx="219456" cy="219456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96128" y="2240280"/>
            <a:ext cx="5760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92524"/>
                </a:solidFill>
                <a:latin typeface="Calibri"/>
              </a:rPr>
              <a:t>Healthier – more healthy years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971800"/>
            <a:ext cx="6400800" cy="566928"/>
          </a:xfrm>
          <a:prstGeom prst="roundRect">
            <a:avLst>
              <a:gd name="adj" fmla="val 30000"/>
            </a:avLst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30368" y="3145536"/>
            <a:ext cx="219456" cy="219456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6128" y="2971800"/>
            <a:ext cx="5760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92524"/>
                </a:solidFill>
                <a:latin typeface="Calibri"/>
              </a:rPr>
              <a:t>Working longer – longer working life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703320"/>
            <a:ext cx="6400800" cy="566928"/>
          </a:xfrm>
          <a:prstGeom prst="roundRect">
            <a:avLst>
              <a:gd name="adj" fmla="val 30000"/>
            </a:avLst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30368" y="3877056"/>
            <a:ext cx="219456" cy="219456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6128" y="3703320"/>
            <a:ext cx="5760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92524"/>
                </a:solidFill>
                <a:latin typeface="Calibri"/>
              </a:rPr>
              <a:t>Rising participation – women &amp; older workers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93776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44403C"/>
                </a:solidFill>
                <a:latin typeface="Calibri"/>
              </a:rPr>
              <a:t>The split is starkly demographic: Romania and Bulgaria fall hardest (emigration + ageing); Germany, France and Norway gain. Supply here is a potential ceiling – before skills mismatch and frictions.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6692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10149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292524"/>
                </a:solidFill>
                <a:latin typeface="Cambria"/>
              </a:rPr>
              <a:t>Demand – broadly flat, geography is the 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55448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1810512"/>
            <a:ext cx="2834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D97706"/>
                </a:solidFill>
                <a:latin typeface="Cambria"/>
              </a:rPr>
              <a:t>−2.5%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689742"/>
            <a:ext cx="2834640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78716C"/>
                </a:solidFill>
                <a:latin typeface="Calibri"/>
              </a:rPr>
              <a:t>Labour demand, 2024→2033 (~4,420 → ~4,310 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737360"/>
            <a:ext cx="65836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44403C"/>
                </a:solidFill>
                <a:latin typeface="Calibri"/>
              </a:rPr>
              <a:t>Demand doesn’t run away. The imbalance is not an explosion in labour needs – it is about WHERE the working-age people are.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44403C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44403C"/>
                </a:solidFill>
                <a:latin typeface="Calibri"/>
              </a:rPr>
              <a:t>Geography, not appetite.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937760"/>
            <a:ext cx="10241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1">
                <a:solidFill>
                  <a:srgbClr val="78716C"/>
                </a:solidFill>
                <a:latin typeface="Calibri"/>
              </a:rPr>
              <a:t>Vacancies – our weakest input, almost a random walk – are tied to unemployment through a Beveridge curve (vacancies fall when unemployment rises), which keeps them stable and scenario-able.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6692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10149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292524"/>
                </a:solidFill>
                <a:latin typeface="Cambria"/>
              </a:rPr>
              <a:t>Balance – a balanced total, an unbalanced 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645920"/>
            <a:ext cx="4983480" cy="2743200"/>
          </a:xfrm>
          <a:prstGeom prst="roundRect">
            <a:avLst>
              <a:gd name="adj" fmla="val 5000"/>
            </a:avLst>
          </a:prstGeom>
          <a:solidFill>
            <a:srgbClr val="F0F5F1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196596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6534"/>
                </a:solidFill>
                <a:latin typeface="Calibri"/>
              </a:rPr>
              <a:t>EAST  –  surplus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514600"/>
            <a:ext cx="4297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166534"/>
                </a:solidFill>
                <a:latin typeface="Cambria"/>
              </a:rPr>
              <a:t>+370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611880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78716C"/>
                </a:solidFill>
                <a:latin typeface="Calibri"/>
              </a:rPr>
              <a:t>PL · RO · CZ · BG  – more potential labour than demanded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45920"/>
            <a:ext cx="4983480" cy="2743200"/>
          </a:xfrm>
          <a:prstGeom prst="roundRect">
            <a:avLst>
              <a:gd name="adj" fmla="val 5000"/>
            </a:avLst>
          </a:prstGeom>
          <a:solidFill>
            <a:srgbClr val="FBF2F2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965960"/>
            <a:ext cx="4297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91C1C"/>
                </a:solidFill>
                <a:latin typeface="Calibri"/>
              </a:rPr>
              <a:t>WEST / EFTA  –  shortage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514600"/>
            <a:ext cx="4297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B91C1C"/>
                </a:solidFill>
                <a:latin typeface="Cambria"/>
              </a:rPr>
              <a:t>−280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3611880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78716C"/>
                </a:solidFill>
                <a:latin typeface="Calibri"/>
              </a:rPr>
              <a:t>DE · FR · CH · NO  – need more than they have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 i="0">
                <a:solidFill>
                  <a:srgbClr val="44403C"/>
                </a:solidFill>
                <a:latin typeface="Calibri"/>
              </a:rPr>
              <a:t>Net – about +89 M – looks fine, but it is a mirage: two opposite imbalances that cancel on paper. The demographic basis for West-bound migration. Because it is a small difference of two big forecasts, read it as a direction with wide bands – not a precise point.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6692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10149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292524"/>
                </a:solidFill>
                <a:latin typeface="Cambria"/>
              </a:rPr>
              <a:t>Open horizons (Levels 4–6) – reported descriptively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783080"/>
            <a:ext cx="3291840" cy="2103120"/>
          </a:xfrm>
          <a:prstGeom prst="roundRect">
            <a:avLst>
              <a:gd name="adj" fmla="val 5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05740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475369"/>
                </a:solidFill>
                <a:latin typeface="Cambria"/>
              </a:rPr>
              <a:t>Poor-health burden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78892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4403C"/>
                </a:solidFill>
                <a:latin typeface="Calibri"/>
              </a:rPr>
              <a:t>~4.26 bn person-years lived in poor health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3752" y="1783080"/>
            <a:ext cx="3291840" cy="2103120"/>
          </a:xfrm>
          <a:prstGeom prst="roundRect">
            <a:avLst>
              <a:gd name="adj" fmla="val 5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48072" y="205740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475369"/>
                </a:solidFill>
                <a:latin typeface="Cambria"/>
              </a:rPr>
              <a:t>Retirement dividend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8072" y="278892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4403C"/>
                </a:solidFill>
                <a:latin typeface="Calibri"/>
              </a:rPr>
              <a:t>healthy years left after the retirement 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75904" y="1783080"/>
            <a:ext cx="3291840" cy="2103120"/>
          </a:xfrm>
          <a:prstGeom prst="roundRect">
            <a:avLst>
              <a:gd name="adj" fmla="val 5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50224" y="205740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475369"/>
                </a:solidFill>
                <a:latin typeface="Cambria"/>
              </a:rPr>
              <a:t>Macroeconomy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0224" y="278892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4403C"/>
                </a:solidFill>
                <a:latin typeface="Calibri"/>
              </a:rPr>
              <a:t>GDP ≈ €8.0 → €8.6 T (~0.8%/yr)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434840"/>
            <a:ext cx="10241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44403C"/>
                </a:solidFill>
                <a:latin typeface="Calibri"/>
              </a:rPr>
              <a:t>Across countries these all look strongly linked to health. But within a country, over time, the link is essentially zero – spending tracks GDP and income, not the longevity quantity. So we report patterns, never cause and effect.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66928"/>
            <a:ext cx="566928" cy="566928"/>
          </a:xfrm>
          <a:prstGeom prst="ellipse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6692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101498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292524"/>
                </a:solidFill>
                <a:latin typeface="Cambria"/>
              </a:rPr>
              <a:t>Implications &amp; shocks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44403C"/>
                </a:solidFill>
                <a:latin typeface="Calibri"/>
              </a:rPr>
              <a:t>Only three levers can move the balance: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920240"/>
            <a:ext cx="3291840" cy="1600200"/>
          </a:xfrm>
          <a:prstGeom prst="roundRect">
            <a:avLst>
              <a:gd name="adj" fmla="val 6000"/>
            </a:avLst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121408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66534"/>
                </a:solidFill>
                <a:latin typeface="Cambria"/>
              </a:rPr>
              <a:t>Increase supply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97480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44403C"/>
                </a:solidFill>
                <a:latin typeface="Calibri"/>
              </a:rPr>
              <a:t>participation · retention · migration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73752" y="1920240"/>
            <a:ext cx="3291840" cy="1600200"/>
          </a:xfrm>
          <a:prstGeom prst="roundRect">
            <a:avLst>
              <a:gd name="adj" fmla="val 6000"/>
            </a:avLst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8072" y="2121408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66534"/>
                </a:solidFill>
                <a:latin typeface="Cambria"/>
              </a:rPr>
              <a:t>Ease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8072" y="2697480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44403C"/>
                </a:solidFill>
                <a:latin typeface="Calibri"/>
              </a:rPr>
              <a:t>automation &amp; productivity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75904" y="1920240"/>
            <a:ext cx="3291840" cy="1600200"/>
          </a:xfrm>
          <a:prstGeom prst="roundRect">
            <a:avLst>
              <a:gd name="adj" fmla="val 6000"/>
            </a:avLst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50224" y="2121408"/>
            <a:ext cx="2788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66534"/>
                </a:solidFill>
                <a:latin typeface="Cambria"/>
              </a:rPr>
              <a:t>Maintain 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0224" y="2697480"/>
            <a:ext cx="2788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44403C"/>
                </a:solidFill>
                <a:latin typeface="Calibri"/>
              </a:rPr>
              <a:t>education &amp; retirement-age 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94760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44403C"/>
                </a:solidFill>
                <a:latin typeface="Calibri"/>
              </a:rPr>
              <a:t>And the forces outside slow demographics – measured from our own data: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34340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452628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7706"/>
                </a:solidFill>
                <a:latin typeface="Cambria"/>
              </a:rPr>
              <a:t>COVID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983480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44403C"/>
                </a:solidFill>
                <a:latin typeface="Calibri"/>
              </a:rPr>
              <a:t>vacancy collapse – PL −41%, then a sharp V-rebound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73752" y="434340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8072" y="452628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7706"/>
                </a:solidFill>
                <a:latin typeface="Cambria"/>
              </a:rPr>
              <a:t>Ukraine war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8072" y="4983480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44403C"/>
                </a:solidFill>
                <a:latin typeface="Calibri"/>
              </a:rPr>
              <a:t>refugee supply boost to PL &amp; CZ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75904" y="434340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FBFBFA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50224" y="452628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97706"/>
                </a:solidFill>
                <a:latin typeface="Cambria"/>
              </a:rPr>
              <a:t>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0224" y="4983480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44403C"/>
                </a:solidFill>
                <a:latin typeface="Calibri"/>
              </a:rPr>
              <a:t>adoption: NO ~29% → RO ~5%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A structural East–West divide – held flat by Europe’s longevity dividend.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D6D3D1"/>
                </a:solidFill>
                <a:latin typeface="Calibri"/>
              </a:rPr>
              <a:t>That is the answer. Now – why believe it?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120640"/>
            <a:ext cx="658368" cy="658368"/>
          </a:xfrm>
          <a:prstGeom prst="roundRect">
            <a:avLst>
              <a:gd name="adj" fmla="val 26000"/>
            </a:avLst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91379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mbria"/>
              </a:rPr>
              <a:t>P</a:t>
            </a:r>
          </a:p>
        </p:txBody>
      </p:sp>
      <p:sp>
        <p:nvSpPr>
          <p:cNvPr id="7" name="Oval 6"/>
          <p:cNvSpPr/>
          <p:nvPr/>
        </p:nvSpPr>
        <p:spPr>
          <a:xfrm>
            <a:off x="1426464" y="5164531"/>
            <a:ext cx="117043" cy="117043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7632" y="5166360"/>
            <a:ext cx="8229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mbria"/>
              </a:rPr>
              <a:t>Over to Speaker 2 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