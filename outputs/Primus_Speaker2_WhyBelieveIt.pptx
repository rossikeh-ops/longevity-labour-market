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92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68680" y="777240"/>
            <a:ext cx="822960" cy="822960"/>
          </a:xfrm>
          <a:prstGeom prst="roundRect">
            <a:avLst>
              <a:gd name="adj" fmla="val 26000"/>
            </a:avLst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740664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  <a:latin typeface="Cambria"/>
              </a:rPr>
              <a:t>P</a:t>
            </a:r>
          </a:p>
        </p:txBody>
      </p:sp>
      <p:sp>
        <p:nvSpPr>
          <p:cNvPr id="5" name="Oval 4"/>
          <p:cNvSpPr/>
          <p:nvPr/>
        </p:nvSpPr>
        <p:spPr>
          <a:xfrm>
            <a:off x="1508760" y="832103"/>
            <a:ext cx="146304" cy="146304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83080" y="841248"/>
            <a:ext cx="54864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mbria"/>
              </a:rPr>
              <a:t>PRIMUS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1325880"/>
            <a:ext cx="7315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D6D3D1"/>
                </a:solidFill>
                <a:latin typeface="Calibri"/>
              </a:rPr>
              <a:t>PERSON-YEAR FORECASTS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651760"/>
            <a:ext cx="10424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  <a:latin typeface="Cambria"/>
              </a:rPr>
              <a:t>Why believe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88620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D97706"/>
                </a:solidFill>
                <a:latin typeface="Calibri"/>
              </a:rPr>
              <a:t>Speaker 2 – the method behind the numbers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02920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D6D3D1"/>
                </a:solidFill>
                <a:latin typeface="Calibri"/>
              </a:rPr>
              <a:t>Stops 7–10  ·  ~9 minutes  ·  Longevity &amp; the Labour Market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1">
                <a:solidFill>
                  <a:srgbClr val="D6D3D1"/>
                </a:solidFill>
                <a:latin typeface="Calibri"/>
              </a:rPr>
              <a:t>Part 2 of 2 – after the findings, here is why you can trust them.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566928"/>
            <a:ext cx="566928" cy="566928"/>
          </a:xfrm>
          <a:prstGeom prst="ellipse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566928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mbri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48640"/>
            <a:ext cx="101498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300" b="1" i="0">
                <a:solidFill>
                  <a:srgbClr val="292524"/>
                </a:solidFill>
                <a:latin typeface="Cambria"/>
              </a:rPr>
              <a:t>Methodology – how it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417320"/>
            <a:ext cx="6400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44403C"/>
                </a:solidFill>
                <a:latin typeface="Calibri"/>
              </a:rPr>
              <a:t>Five simple models, averaged – deliberately no neural networks.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2240280"/>
            <a:ext cx="4023360" cy="566928"/>
          </a:xfrm>
          <a:prstGeom prst="roundRect">
            <a:avLst>
              <a:gd name="adj" fmla="val 30000"/>
            </a:avLst>
          </a:prstGeom>
          <a:solidFill>
            <a:srgbClr val="F0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572768" y="2414016"/>
            <a:ext cx="219456" cy="219456"/>
          </a:xfrm>
          <a:prstGeom prst="ellipse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65960" y="2240280"/>
            <a:ext cx="32918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92524"/>
                </a:solidFill>
                <a:latin typeface="Calibri"/>
              </a:rPr>
              <a:t>Linear trend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2953512"/>
            <a:ext cx="4023360" cy="566928"/>
          </a:xfrm>
          <a:prstGeom prst="roundRect">
            <a:avLst>
              <a:gd name="adj" fmla="val 30000"/>
            </a:avLst>
          </a:prstGeom>
          <a:solidFill>
            <a:srgbClr val="F0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572768" y="3127248"/>
            <a:ext cx="219456" cy="219456"/>
          </a:xfrm>
          <a:prstGeom prst="ellipse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65960" y="2953512"/>
            <a:ext cx="32918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92524"/>
                </a:solidFill>
                <a:latin typeface="Calibri"/>
              </a:rPr>
              <a:t>Damped Holt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71600" y="3666744"/>
            <a:ext cx="4023360" cy="566928"/>
          </a:xfrm>
          <a:prstGeom prst="roundRect">
            <a:avLst>
              <a:gd name="adj" fmla="val 30000"/>
            </a:avLst>
          </a:prstGeom>
          <a:solidFill>
            <a:srgbClr val="F0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572768" y="3840480"/>
            <a:ext cx="219456" cy="219456"/>
          </a:xfrm>
          <a:prstGeom prst="ellipse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65960" y="3666744"/>
            <a:ext cx="32918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92524"/>
                </a:solidFill>
                <a:latin typeface="Calibri"/>
              </a:rPr>
              <a:t>Drift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71600" y="4379976"/>
            <a:ext cx="4023360" cy="566928"/>
          </a:xfrm>
          <a:prstGeom prst="roundRect">
            <a:avLst>
              <a:gd name="adj" fmla="val 30000"/>
            </a:avLst>
          </a:prstGeom>
          <a:solidFill>
            <a:srgbClr val="F0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572768" y="4553712"/>
            <a:ext cx="219456" cy="219456"/>
          </a:xfrm>
          <a:prstGeom prst="ellipse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65960" y="4379976"/>
            <a:ext cx="32918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92524"/>
                </a:solidFill>
                <a:latin typeface="Calibri"/>
              </a:rPr>
              <a:t>Naïve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71600" y="5093208"/>
            <a:ext cx="4023360" cy="566928"/>
          </a:xfrm>
          <a:prstGeom prst="roundRect">
            <a:avLst>
              <a:gd name="adj" fmla="val 30000"/>
            </a:avLst>
          </a:prstGeom>
          <a:solidFill>
            <a:srgbClr val="F0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572768" y="5266944"/>
            <a:ext cx="219456" cy="219456"/>
          </a:xfrm>
          <a:prstGeom prst="ellipse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965960" y="5093208"/>
            <a:ext cx="32918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92524"/>
                </a:solidFill>
                <a:latin typeface="Calibri"/>
              </a:rPr>
              <a:t>AR(1) – mean-reverting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35040" y="2240280"/>
            <a:ext cx="5577840" cy="3566160"/>
          </a:xfrm>
          <a:prstGeom prst="roundRect">
            <a:avLst>
              <a:gd name="adj" fmla="val 5000"/>
            </a:avLst>
          </a:prstGeom>
          <a:solidFill>
            <a:srgbClr val="FBFBFA"/>
          </a:solidFill>
          <a:ln w="12700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2606040"/>
            <a:ext cx="49377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200" b="1" i="0">
                <a:solidFill>
                  <a:srgbClr val="D97706"/>
                </a:solidFill>
                <a:latin typeface="Cambria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447288"/>
            <a:ext cx="4937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78716C"/>
                </a:solidFill>
                <a:latin typeface="Calibri"/>
              </a:rPr>
              <a:t>training pairs a dedicated 9-year model gets – so it starves and overfits.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160520"/>
            <a:ext cx="49377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166534"/>
                </a:solidFill>
                <a:latin typeface="Cambria"/>
              </a:rPr>
              <a:t>12–40%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001768"/>
            <a:ext cx="4937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78716C"/>
                </a:solidFill>
                <a:latin typeface="Calibri"/>
              </a:rPr>
              <a:t>honest band width: model spread + real backtest error + migration.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5989320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1">
                <a:solidFill>
                  <a:srgbClr val="78716C"/>
                </a:solidFill>
                <a:latin typeface="Calibri"/>
              </a:rPr>
              <a:t>We tested it: per-horizon specialists lose at every horizon – and the naïve last-value is the hardest thing to beat, so we win by restraint.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566928"/>
            <a:ext cx="566928" cy="566928"/>
          </a:xfrm>
          <a:prstGeom prst="ellipse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566928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mbri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48640"/>
            <a:ext cx="101498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300" b="1" i="0">
                <a:solidFill>
                  <a:srgbClr val="292524"/>
                </a:solidFill>
                <a:latin typeface="Cambria"/>
              </a:rPr>
              <a:t>Model playground – drag it live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4173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44403C"/>
                </a:solidFill>
                <a:latin typeface="Calibri"/>
              </a:rPr>
              <a:t>Two interactive toys make the method tangible.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2194560"/>
            <a:ext cx="4846320" cy="3200400"/>
          </a:xfrm>
          <a:prstGeom prst="roundRect">
            <a:avLst>
              <a:gd name="adj" fmla="val 5000"/>
            </a:avLst>
          </a:prstGeom>
          <a:solidFill>
            <a:srgbClr val="FBFBFA"/>
          </a:solidFill>
          <a:ln w="12700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91640" y="2468880"/>
            <a:ext cx="4297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66534"/>
                </a:solidFill>
                <a:latin typeface="Cambria"/>
              </a:rPr>
              <a:t>Ensemble uncertainty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3108960"/>
            <a:ext cx="429768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0" i="0">
                <a:solidFill>
                  <a:srgbClr val="44403C"/>
                </a:solidFill>
                <a:latin typeface="Calibri"/>
              </a:rPr>
              <a:t>Add more simple models and a little noise – a cloud of forecasts forms, and the band is just its spread.</a:t>
            </a:r>
          </a:p>
          <a:p>
            <a:pPr algn="l">
              <a:lnSpc>
                <a:spcPct val="110000"/>
              </a:lnSpc>
            </a:pPr>
            <a:r>
              <a:rPr sz="1450" b="0" i="0">
                <a:solidFill>
                  <a:srgbClr val="44403C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</a:pPr>
            <a:r>
              <a:rPr sz="1450" b="0" i="0">
                <a:solidFill>
                  <a:srgbClr val="44403C"/>
                </a:solidFill>
                <a:latin typeface="Calibri"/>
              </a:rPr>
              <a:t>Uncertainty = the disagreement among honest simple models.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46520" y="2194560"/>
            <a:ext cx="5166360" cy="3200400"/>
          </a:xfrm>
          <a:prstGeom prst="roundRect">
            <a:avLst>
              <a:gd name="adj" fmla="val 5000"/>
            </a:avLst>
          </a:prstGeom>
          <a:solidFill>
            <a:srgbClr val="FBFBFA"/>
          </a:solidFill>
          <a:ln w="12700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246888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66534"/>
                </a:solidFill>
                <a:latin typeface="Cambria"/>
              </a:rPr>
              <a:t>Flexibility – bias vs variance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3063240"/>
            <a:ext cx="4572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78716C"/>
                </a:solidFill>
                <a:latin typeface="Calibri"/>
              </a:rPr>
              <a:t>Cross-validated error as you over-flex: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3520440"/>
            <a:ext cx="4754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D97706"/>
                </a:solidFill>
                <a:latin typeface="Cambria"/>
              </a:rPr>
              <a:t>0.7  →  15.6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4480560"/>
            <a:ext cx="4572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44403C"/>
                </a:solidFill>
                <a:latin typeface="Calibri"/>
              </a:rPr>
              <a:t>Training error keeps falling, but CV error explodes – overfitting, live. Sweet spot: degree 3.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5806440"/>
            <a:ext cx="10241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1">
                <a:solidFill>
                  <a:srgbClr val="78716C"/>
                </a:solidFill>
                <a:latin typeface="Calibri"/>
              </a:rPr>
              <a:t>That is exactly why we use simple models – a neural network would land far right, deep in the overfit zone.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566928"/>
            <a:ext cx="566928" cy="566928"/>
          </a:xfrm>
          <a:prstGeom prst="ellipse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566928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mbri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48640"/>
            <a:ext cx="101498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300" b="1" i="0">
                <a:solidFill>
                  <a:srgbClr val="292524"/>
                </a:solidFill>
                <a:latin typeface="Cambria"/>
              </a:rPr>
              <a:t>Trust – the case for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4173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44403C"/>
                </a:solidFill>
                <a:latin typeface="Calibri"/>
              </a:rPr>
              <a:t>Rolling-origin cross-validation: hold out the last years, forecast from history only.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2377440"/>
            <a:ext cx="3108960" cy="2011680"/>
          </a:xfrm>
          <a:prstGeom prst="roundRect">
            <a:avLst>
              <a:gd name="adj" fmla="val 6000"/>
            </a:avLst>
          </a:prstGeom>
          <a:solidFill>
            <a:srgbClr val="FBFBFA"/>
          </a:solidFill>
          <a:ln w="12700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91640" y="2651760"/>
            <a:ext cx="2468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200" b="1" i="0">
                <a:solidFill>
                  <a:srgbClr val="166534"/>
                </a:solidFill>
                <a:latin typeface="Cambria"/>
              </a:rPr>
              <a:t>3.6%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3611880"/>
            <a:ext cx="24688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78716C"/>
                </a:solidFill>
                <a:latin typeface="Calibri"/>
              </a:rPr>
              <a:t>Supply forecast error (MAPE)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00600" y="2377440"/>
            <a:ext cx="3108960" cy="2011680"/>
          </a:xfrm>
          <a:prstGeom prst="roundRect">
            <a:avLst>
              <a:gd name="adj" fmla="val 6000"/>
            </a:avLst>
          </a:prstGeom>
          <a:solidFill>
            <a:srgbClr val="FBFBFA"/>
          </a:solidFill>
          <a:ln w="12700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651760"/>
            <a:ext cx="2468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200" b="1" i="0">
                <a:solidFill>
                  <a:srgbClr val="166534"/>
                </a:solidFill>
                <a:latin typeface="Cambria"/>
              </a:rPr>
              <a:t>2.2%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3611880"/>
            <a:ext cx="24688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78716C"/>
                </a:solidFill>
                <a:latin typeface="Calibri"/>
              </a:rPr>
              <a:t>Demand forecast error (MAPE)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2377440"/>
            <a:ext cx="3108960" cy="2011680"/>
          </a:xfrm>
          <a:prstGeom prst="roundRect">
            <a:avLst>
              <a:gd name="adj" fmla="val 6000"/>
            </a:avLst>
          </a:prstGeom>
          <a:solidFill>
            <a:srgbClr val="FBFBFA"/>
          </a:solidFill>
          <a:ln w="12700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49640" y="2651760"/>
            <a:ext cx="2468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200" b="1" i="0">
                <a:solidFill>
                  <a:srgbClr val="D97706"/>
                </a:solidFill>
                <a:latin typeface="Cambria"/>
              </a:rPr>
              <a:t>+0.29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3611880"/>
            <a:ext cx="24688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78716C"/>
                </a:solidFill>
                <a:latin typeface="Calibri"/>
              </a:rPr>
              <a:t>CRPS skill vs naïve – every driver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029200"/>
            <a:ext cx="102412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 i="0">
                <a:solidFill>
                  <a:srgbClr val="44403C"/>
                </a:solidFill>
                <a:latin typeface="Calibri"/>
              </a:rPr>
              <a:t>A proper scoring rule (CRPS) grades the whole band, not just the point – and it is positive for every driver, even vacancies whose point forecast barely ties naïve. The bands are well-calibrated: the model knows what it doesn’t know.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566928"/>
            <a:ext cx="566928" cy="566928"/>
          </a:xfrm>
          <a:prstGeom prst="ellipse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566928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mbri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48640"/>
            <a:ext cx="101498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300" b="1" i="0">
                <a:solidFill>
                  <a:srgbClr val="292524"/>
                </a:solidFill>
                <a:latin typeface="Cambria"/>
              </a:rPr>
              <a:t>…and the case against – our own audit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1828800"/>
            <a:ext cx="3291840" cy="3383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2057400"/>
            <a:ext cx="27889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1650" b="1" i="0">
                <a:solidFill>
                  <a:srgbClr val="475369"/>
                </a:solidFill>
                <a:latin typeface="Cambria"/>
              </a:rPr>
              <a:t>Honest precision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926080"/>
            <a:ext cx="274320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 i="0">
                <a:solidFill>
                  <a:srgbClr val="44403C"/>
                </a:solidFill>
                <a:latin typeface="Calibri"/>
              </a:rPr>
              <a:t>Bootstrap confidence intervals on every number.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4480560"/>
            <a:ext cx="2788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D97706"/>
                </a:solidFill>
                <a:latin typeface="Cambria"/>
              </a:rPr>
              <a:t>Vacancies: 24%  →  [16–34]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73752" y="1828800"/>
            <a:ext cx="3291840" cy="3383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48072" y="2057400"/>
            <a:ext cx="27889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1650" b="1" i="0">
                <a:solidFill>
                  <a:srgbClr val="475369"/>
                </a:solidFill>
                <a:latin typeface="Cambria"/>
              </a:rPr>
              <a:t>The fragile headline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8072" y="2926080"/>
            <a:ext cx="274320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 i="0">
                <a:solidFill>
                  <a:srgbClr val="44403C"/>
                </a:solidFill>
                <a:latin typeface="Calibri"/>
              </a:rPr>
              <a:t>Strip out non-comparable self-reported health and the East–West split nearly collapses.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48072" y="4480560"/>
            <a:ext cx="2788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D97706"/>
                </a:solidFill>
                <a:latin typeface="Cambria"/>
              </a:rPr>
              <a:t>West  –287  →  +642 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75904" y="1828800"/>
            <a:ext cx="3291840" cy="3383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50224" y="2057400"/>
            <a:ext cx="27889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1650" b="1" i="0">
                <a:solidFill>
                  <a:srgbClr val="475369"/>
                </a:solidFill>
                <a:latin typeface="Cambria"/>
              </a:rPr>
              <a:t>0.99 is fake, ≈0 is real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50224" y="2926080"/>
            <a:ext cx="274320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 i="0">
                <a:solidFill>
                  <a:srgbClr val="44403C"/>
                </a:solidFill>
                <a:latin typeface="Calibri"/>
              </a:rPr>
              <a:t>Cross-country R² vs within-country R² for longevity → spending.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50224" y="4480560"/>
            <a:ext cx="2788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D97706"/>
                </a:solidFill>
                <a:latin typeface="Cambria"/>
              </a:rPr>
              <a:t>0.99   vs   ≈ 0.00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5623560"/>
            <a:ext cx="10241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1">
                <a:solidFill>
                  <a:srgbClr val="78716C"/>
                </a:solidFill>
                <a:latin typeface="Calibri"/>
              </a:rPr>
              <a:t>And every fancier tool we measured – a regression tree, gradient boosting, per-horizon specialists – lost. We didn’t just prefer simple; we proved simple wins.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566928"/>
            <a:ext cx="566928" cy="566928"/>
          </a:xfrm>
          <a:prstGeom prst="ellipse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566928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mbri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48640"/>
            <a:ext cx="101498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300" b="1" i="0">
                <a:solidFill>
                  <a:srgbClr val="292524"/>
                </a:solidFill>
                <a:latin typeface="Cambria"/>
              </a:rPr>
              <a:t>What-if sandbox – the finale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4173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44403C"/>
                </a:solidFill>
                <a:latin typeface="Calibri"/>
              </a:rPr>
              <a:t>A live engine: three dials, four answers that update instantly.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2286000"/>
            <a:ext cx="3291840" cy="2103120"/>
          </a:xfrm>
          <a:prstGeom prst="roundRect">
            <a:avLst>
              <a:gd name="adj" fmla="val 6000"/>
            </a:avLst>
          </a:prstGeom>
          <a:solidFill>
            <a:srgbClr val="F0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45920" y="2560320"/>
            <a:ext cx="457200" cy="457200"/>
          </a:xfrm>
          <a:prstGeom prst="ellipse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254203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2542032"/>
            <a:ext cx="22860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292524"/>
                </a:solidFill>
                <a:latin typeface="Cambria"/>
              </a:rPr>
              <a:t>Healthy life years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3246120"/>
            <a:ext cx="27889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44403C"/>
                </a:solidFill>
                <a:latin typeface="Calibri"/>
              </a:rPr>
              <a:t>stay healthy longer → supply rises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73752" y="2286000"/>
            <a:ext cx="3291840" cy="2103120"/>
          </a:xfrm>
          <a:prstGeom prst="roundRect">
            <a:avLst>
              <a:gd name="adj" fmla="val 6000"/>
            </a:avLst>
          </a:prstGeom>
          <a:solidFill>
            <a:srgbClr val="F0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148072" y="2560320"/>
            <a:ext cx="457200" cy="457200"/>
          </a:xfrm>
          <a:prstGeom prst="ellipse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48072" y="254203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42432" y="2542032"/>
            <a:ext cx="22860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292524"/>
                </a:solidFill>
                <a:latin typeface="Cambria"/>
              </a:rPr>
              <a:t>Retirement 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48072" y="3246120"/>
            <a:ext cx="27889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44403C"/>
                </a:solidFill>
                <a:latin typeface="Calibri"/>
              </a:rPr>
              <a:t>later → who it helps, who it strains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75904" y="2286000"/>
            <a:ext cx="3291840" cy="2103120"/>
          </a:xfrm>
          <a:prstGeom prst="roundRect">
            <a:avLst>
              <a:gd name="adj" fmla="val 6000"/>
            </a:avLst>
          </a:prstGeom>
          <a:solidFill>
            <a:srgbClr val="F0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650224" y="2560320"/>
            <a:ext cx="457200" cy="457200"/>
          </a:xfrm>
          <a:prstGeom prst="ellipse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50224" y="254203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44584" y="2542032"/>
            <a:ext cx="22860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292524"/>
                </a:solidFill>
                <a:latin typeface="Cambria"/>
              </a:rPr>
              <a:t>Participation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0224" y="3246120"/>
            <a:ext cx="27889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44403C"/>
                </a:solidFill>
                <a:latin typeface="Calibri"/>
              </a:rPr>
              <a:t>more workers → the shortage shrinks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937760"/>
            <a:ext cx="102412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 i="0">
                <a:solidFill>
                  <a:srgbClr val="44403C"/>
                </a:solidFill>
                <a:latin typeface="Calibri"/>
              </a:rPr>
              <a:t>Who keeps working, who retires, who needs care, and who fills the concert halls and the adult-education classes. Not a prophecy – a transparent engine you can interrogate, reproducible from raw data to this slider.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92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4241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  <a:latin typeface="Cambria"/>
              </a:rPr>
              <a:t>The longevity dividend is real – but it sits on a deep East–West divide.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D6D3D1"/>
                </a:solidFill>
                <a:latin typeface="Calibri"/>
              </a:rPr>
              <a:t>Honest about what it knows and what it doesn’t. Reproducible end to end. Trust the direction – discount the decimals.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5394960"/>
            <a:ext cx="658368" cy="658368"/>
          </a:xfrm>
          <a:prstGeom prst="roundRect">
            <a:avLst>
              <a:gd name="adj" fmla="val 26000"/>
            </a:avLst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5365699"/>
            <a:ext cx="65836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mbria"/>
              </a:rPr>
              <a:t>P</a:t>
            </a:r>
          </a:p>
        </p:txBody>
      </p:sp>
      <p:sp>
        <p:nvSpPr>
          <p:cNvPr id="7" name="Oval 6"/>
          <p:cNvSpPr/>
          <p:nvPr/>
        </p:nvSpPr>
        <p:spPr>
          <a:xfrm>
            <a:off x="1426464" y="5438851"/>
            <a:ext cx="117043" cy="117043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27632" y="5440680"/>
            <a:ext cx="6400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D97706"/>
                </a:solidFill>
                <a:latin typeface="Cambria"/>
              </a:rPr>
              <a:t>Thank you –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